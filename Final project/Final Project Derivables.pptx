
<file path=[Content_Types].xml><?xml version="1.0" encoding="utf-8"?>
<Types xmlns="http://schemas.openxmlformats.org/package/2006/content-types">
  <Default Extension="png" ContentType="image/png"/>
  <Default Extension="m4a" ContentType="audio/mp4"/>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68" d="100"/>
          <a:sy n="68" d="100"/>
        </p:scale>
        <p:origin x="61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44F6935-5D8E-43DB-8BFB-36FF8167EBB3}"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2724789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4F6935-5D8E-43DB-8BFB-36FF8167EBB3}"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733857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44F6935-5D8E-43DB-8BFB-36FF8167EBB3}"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328794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44F6935-5D8E-43DB-8BFB-36FF8167EBB3}"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4227174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44F6935-5D8E-43DB-8BFB-36FF8167EBB3}" type="datetimeFigureOut">
              <a:rPr lang="en-US" smtClean="0"/>
              <a:t>7/23/2026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1671051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44F6935-5D8E-43DB-8BFB-36FF8167EBB3}" type="datetimeFigureOut">
              <a:rPr lang="en-US" smtClean="0"/>
              <a:t>7/23/2026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363762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4F6935-5D8E-43DB-8BFB-36FF8167EBB3}" type="datetimeFigureOut">
              <a:rPr lang="en-US" smtClean="0"/>
              <a:t>7/23/2026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1261004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4F6935-5D8E-43DB-8BFB-36FF8167EBB3}"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274133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44F6935-5D8E-43DB-8BFB-36FF8167EBB3}" type="datetimeFigureOut">
              <a:rPr lang="en-US" smtClean="0"/>
              <a:t>7/23/2026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21577274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4F6935-5D8E-43DB-8BFB-36FF8167EBB3}"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98005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44F6935-5D8E-43DB-8BFB-36FF8167EBB3}" type="datetimeFigureOut">
              <a:rPr lang="en-US" smtClean="0"/>
              <a:t>7/23/2026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3173D-7DA5-4909-AC2C-A900166B3823}" type="slidenum">
              <a:rPr lang="en-US" smtClean="0"/>
              <a:t>‹#›</a:t>
            </a:fld>
            <a:endParaRPr lang="en-US"/>
          </a:p>
        </p:txBody>
      </p:sp>
    </p:spTree>
    <p:extLst>
      <p:ext uri="{BB962C8B-B14F-4D97-AF65-F5344CB8AC3E}">
        <p14:creationId xmlns:p14="http://schemas.microsoft.com/office/powerpoint/2010/main" val="2816853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4F6935-5D8E-43DB-8BFB-36FF8167EBB3}" type="datetimeFigureOut">
              <a:rPr lang="en-US" smtClean="0"/>
              <a:t>7/23/2026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3173D-7DA5-4909-AC2C-A900166B3823}" type="slidenum">
              <a:rPr lang="en-US" smtClean="0"/>
              <a:t>‹#›</a:t>
            </a:fld>
            <a:endParaRPr lang="en-US"/>
          </a:p>
        </p:txBody>
      </p:sp>
    </p:spTree>
    <p:extLst>
      <p:ext uri="{BB962C8B-B14F-4D97-AF65-F5344CB8AC3E}">
        <p14:creationId xmlns:p14="http://schemas.microsoft.com/office/powerpoint/2010/main" val="3729848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4a"/><Relationship Id="rId1" Type="http://schemas.microsoft.com/office/2007/relationships/media" Target="../media/media3.m4a"/><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Final Project </a:t>
            </a:r>
            <a:r>
              <a:rPr lang="en-US" dirty="0" err="1" smtClean="0"/>
              <a:t>Derivables</a:t>
            </a:r>
            <a:endParaRPr lang="en-US" dirty="0"/>
          </a:p>
        </p:txBody>
      </p:sp>
      <p:sp>
        <p:nvSpPr>
          <p:cNvPr id="4" name="Rectangle 1"/>
          <p:cNvSpPr>
            <a:spLocks noGrp="1" noChangeArrowheads="1"/>
          </p:cNvSpPr>
          <p:nvPr>
            <p:ph type="subTitle" idx="1"/>
          </p:nvPr>
        </p:nvSpPr>
        <p:spPr bwMode="auto">
          <a:xfrm>
            <a:off x="101600" y="4805338"/>
            <a:ext cx="69088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Week 8 </a:t>
            </a:r>
            <a:r>
              <a:rPr kumimoji="0" lang="en-US" altLang="en-US" sz="1800" b="1" i="0" u="none" strike="noStrike" cap="none" normalizeH="0" baseline="0" dirty="0" err="1" smtClean="0">
                <a:ln>
                  <a:noFill/>
                </a:ln>
                <a:solidFill>
                  <a:schemeClr val="tx1"/>
                </a:solidFill>
                <a:effectLst/>
                <a:latin typeface="Arial" panose="020B0604020202020204" pitchFamily="34" charset="0"/>
              </a:rPr>
              <a:t>AnalyticLab</a:t>
            </a:r>
            <a:endParaRPr kumimoji="0" lang="en-US" altLang="en-US" sz="1800" b="1" i="0" u="none" strike="noStrike" cap="none" normalizeH="0" baseline="0" dirty="0" smtClean="0">
              <a:ln>
                <a:noFill/>
              </a:ln>
              <a:solidFill>
                <a:schemeClr val="tx1"/>
              </a:solidFill>
              <a:effectLst/>
              <a:latin typeface="Arial" panose="020B0604020202020204" pitchFamily="34" charset="0"/>
            </a:endParaRPr>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940541582"/>
      </p:ext>
    </p:extLst>
  </p:cSld>
  <p:clrMapOvr>
    <a:masterClrMapping/>
  </p:clrMapOvr>
  <mc:AlternateContent xmlns:mc="http://schemas.openxmlformats.org/markup-compatibility/2006">
    <mc:Choice xmlns:p14="http://schemas.microsoft.com/office/powerpoint/2010/main" Requires="p14">
      <p:transition spd="slow" p14:dur="2000" advTm="4278"/>
    </mc:Choice>
    <mc:Fallback>
      <p:transition spd="slow" advTm="42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1" y="-657244"/>
            <a:ext cx="1221129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Arial" panose="020B0604020202020204" pitchFamily="34" charset="0"/>
              </a:rPr>
              <a:t>1. Problem Statement (~45 sec)</a:t>
            </a:r>
            <a:endParaRPr kumimoji="0" lang="en-US" alt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"For my capstone project, I built a machine learning model to predict which customers are likely to respond positively to a marketing campaign. This matters because marketing budgets are limited — mailing every customer wastes money on people who were never going to respond, while under-targeting misses real potential sales. My goal was to build a model that helps a business prioritize who to target, improving campaign return on investment and creating a better, more relevant experience for customers."</a:t>
            </a:r>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97132925"/>
      </p:ext>
    </p:extLst>
  </p:cSld>
  <p:clrMapOvr>
    <a:masterClrMapping/>
  </p:clrMapOvr>
  <mc:AlternateContent xmlns:mc="http://schemas.openxmlformats.org/markup-compatibility/2006">
    <mc:Choice xmlns:p14="http://schemas.microsoft.com/office/powerpoint/2010/main" Requires="p14">
      <p:transition spd="slow" p14:dur="2000" advTm="4991"/>
    </mc:Choice>
    <mc:Fallback>
      <p:transition spd="slow" advTm="49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0" y="0"/>
            <a:ext cx="11736729" cy="1527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2. Dataset (~30 sec)</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 used a marketing campaign dataset containing just over 2,200 customers, with information on their income, age, household composition, historical spending across product categories, purchase channels, and whether they'd responded to past campaigns. The target variable, Response, indicates whether a customer accepted the most recent campaign — a binary yes-or-no outcome.</a:t>
            </a:r>
          </a:p>
        </p:txBody>
      </p:sp>
      <p:pic>
        <p:nvPicPr>
          <p:cNvPr id="4" name="Audio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174437914"/>
      </p:ext>
    </p:extLst>
  </p:cSld>
  <p:clrMapOvr>
    <a:masterClrMapping/>
  </p:clrMapOvr>
  <mc:AlternateContent xmlns:mc="http://schemas.openxmlformats.org/markup-compatibility/2006">
    <mc:Choice xmlns:p14="http://schemas.microsoft.com/office/powerpoint/2010/main" Requires="p14">
      <p:transition spd="slow" p14:dur="2000" advTm="220"/>
    </mc:Choice>
    <mc:Fallback>
      <p:transition spd="slow" advTm="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176499"/>
            <a:ext cx="1210711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3. Data Preprocessing (~45 sec)</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Before modeling, I cleaned the dataset in several steps. First, I found and removed 184 duplicate rows — about 8% of the data — which could have skewed the model by letting it see the same customer's outcome multiple times. Second, I identified two constant columns, </a:t>
            </a:r>
            <a:r>
              <a:rPr kumimoji="0" lang="en-US" altLang="en-US" sz="1800" b="0" i="0" u="none" strike="noStrike" cap="none" normalizeH="0" baseline="0" dirty="0" err="1" smtClean="0">
                <a:ln>
                  <a:noFill/>
                </a:ln>
                <a:solidFill>
                  <a:schemeClr val="tx1"/>
                </a:solidFill>
                <a:effectLst/>
                <a:latin typeface="Arial" panose="020B0604020202020204" pitchFamily="34" charset="0"/>
              </a:rPr>
              <a:t>Z_CostContact</a:t>
            </a:r>
            <a:r>
              <a:rPr kumimoji="0" lang="en-US" altLang="en-US" sz="1800" b="0" i="0" u="none" strike="noStrike" cap="none" normalizeH="0" baseline="0" dirty="0" smtClean="0">
                <a:ln>
                  <a:noFill/>
                </a:ln>
                <a:solidFill>
                  <a:schemeClr val="tx1"/>
                </a:solidFill>
                <a:effectLst/>
                <a:latin typeface="Arial" panose="020B0604020202020204" pitchFamily="34" charset="0"/>
              </a:rPr>
              <a:t> and </a:t>
            </a:r>
            <a:r>
              <a:rPr kumimoji="0" lang="en-US" altLang="en-US" sz="1800" b="0" i="0" u="none" strike="noStrike" cap="none" normalizeH="0" baseline="0" dirty="0" err="1" smtClean="0">
                <a:ln>
                  <a:noFill/>
                </a:ln>
                <a:solidFill>
                  <a:schemeClr val="tx1"/>
                </a:solidFill>
                <a:effectLst/>
                <a:latin typeface="Arial" panose="020B0604020202020204" pitchFamily="34" charset="0"/>
              </a:rPr>
              <a:t>Z_Revenue</a:t>
            </a:r>
            <a:r>
              <a:rPr kumimoji="0" lang="en-US" altLang="en-US" sz="1800" b="0" i="0" u="none" strike="noStrike" cap="none" normalizeH="0" baseline="0" dirty="0" smtClean="0">
                <a:ln>
                  <a:noFill/>
                </a:ln>
                <a:solidFill>
                  <a:schemeClr val="tx1"/>
                </a:solidFill>
                <a:effectLst/>
                <a:latin typeface="Arial" panose="020B0604020202020204" pitchFamily="34" charset="0"/>
              </a:rPr>
              <a:t>, that held the exact same value across every single customer, meaning they carried zero predictive signal, so I dropped them. Finally, I checked for outliers in Age and Income using the interquartile range method, and confirmed the data was within a reasonable range, requiring no further treatment there.</a:t>
            </a: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806372541"/>
      </p:ext>
    </p:extLst>
  </p:cSld>
  <p:clrMapOvr>
    <a:masterClrMapping/>
  </p:clrMapOvr>
  <mc:AlternateContent xmlns:mc="http://schemas.openxmlformats.org/markup-compatibility/2006">
    <mc:Choice xmlns:p14="http://schemas.microsoft.com/office/powerpoint/2010/main" Requires="p14">
      <p:transition spd="slow" p14:dur="2000" advTm="222"/>
    </mc:Choice>
    <mc:Fallback>
      <p:transition spd="slow" advTm="2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2"/>
          <p:cNvSpPr>
            <a:spLocks noChangeArrowheads="1"/>
          </p:cNvSpPr>
          <p:nvPr/>
        </p:nvSpPr>
        <p:spPr bwMode="auto">
          <a:xfrm>
            <a:off x="0" y="-41804"/>
            <a:ext cx="11296891"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4. Exploratory Data Analysis (~1 min)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For EDA, I looked first at the shape of my numeric features. The six spending categories — wine, fruits, meat, fish, sweets, and gold products — were all heavily right-skewed, meaning most customers spent modestly while a small number of big spenders stretched the distribution out. To correct this, I applied a log transformation, which brought the skew from as high as 2.1 down to close to zero.</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 also examined my target variable's balance and found it was imbalanced: about 85% of customers did not respond to the campaign, and only 15% did. This told me early on that accuracy alone would be a misleading metric — a model that just predicted 'No' for everyone would already score 85% while being completely useless.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Finally, a correlation analysis showed that a customer's history of accepting previous campaigns was the strongest predictor of whether they'd respond again — an intuitive, business-relevant insight"</a:t>
            </a:r>
          </a:p>
        </p:txBody>
      </p:sp>
      <p:pic>
        <p:nvPicPr>
          <p:cNvPr id="16" name="Audio 1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01427477"/>
      </p:ext>
    </p:extLst>
  </p:cSld>
  <p:clrMapOvr>
    <a:masterClrMapping/>
  </p:clrMapOvr>
  <mc:AlternateContent xmlns:mc="http://schemas.openxmlformats.org/markup-compatibility/2006">
    <mc:Choice xmlns:p14="http://schemas.microsoft.com/office/powerpoint/2010/main" Requires="p14">
      <p:transition spd="slow" p14:dur="2000" advTm="529"/>
    </mc:Choice>
    <mc:Fallback>
      <p:transition spd="slow" advTm="5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615971"/>
            <a:ext cx="1116957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5. Model Building (~45 sec)</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 chose Logistic Regression as my model. It's a strong fit here because it's interpretable — I can see how much each feature influences the prediction — and it performs well on structured, tabular data like this. Given the class imbalance I found in EDA, I used the </a:t>
            </a:r>
            <a:r>
              <a:rPr kumimoji="0" lang="en-US" altLang="en-US" sz="1800" b="0" i="0" u="none" strike="noStrike" cap="none" normalizeH="0" baseline="0" dirty="0" err="1" smtClean="0">
                <a:ln>
                  <a:noFill/>
                </a:ln>
                <a:solidFill>
                  <a:schemeClr val="tx1"/>
                </a:solidFill>
                <a:effectLst/>
                <a:latin typeface="Arial" panose="020B0604020202020204" pitchFamily="34" charset="0"/>
              </a:rPr>
              <a:t>class_weight</a:t>
            </a:r>
            <a:r>
              <a:rPr kumimoji="0" lang="en-US" altLang="en-US" sz="1800" b="0" i="0" u="none" strike="noStrike" cap="none" normalizeH="0" baseline="0" dirty="0" smtClean="0">
                <a:ln>
                  <a:noFill/>
                </a:ln>
                <a:solidFill>
                  <a:schemeClr val="tx1"/>
                </a:solidFill>
                <a:effectLst/>
                <a:latin typeface="Arial" panose="020B0604020202020204" pitchFamily="34" charset="0"/>
              </a:rPr>
              <a:t>='balanced' parameter, which tells the model to penalize mistakes on the rare 'responded' class more heavily during training, rather than letting it coast on the easy 85% majority.</a:t>
            </a:r>
          </a:p>
        </p:txBody>
      </p:sp>
      <p:pic>
        <p:nvPicPr>
          <p:cNvPr id="3" name="Audio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320890802"/>
      </p:ext>
    </p:extLst>
  </p:cSld>
  <p:clrMapOvr>
    <a:masterClrMapping/>
  </p:clrMapOvr>
  <mc:AlternateContent xmlns:mc="http://schemas.openxmlformats.org/markup-compatibility/2006">
    <mc:Choice xmlns:p14="http://schemas.microsoft.com/office/powerpoint/2010/main" Requires="p14">
      <p:transition spd="slow" p14:dur="2000" advTm="1055"/>
    </mc:Choice>
    <mc:Fallback>
      <p:transition spd="slow" advTm="10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411796"/>
            <a:ext cx="1137791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6. Model Evaluation (~1 min)</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"On my held-out test set, the model achieved 79% recall on the responder class — meaning it correctly identified about 4 out of every 5 real responders — while overall accuracy was 81%, slightly lower than the naive baseline. That trade-off was intentional: in this business context, missing a real responder is more costly than wasting a marketing message on someone who wouldn't respond, so I prioritized recall over raw accuracy.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confirm this result wasn't just a lucky split, I ran 5-fold stratified cross-validation, which preserves the class balance in every fold. The mean recall across folds was 80.7%, with very low variance — confirming the model's performance is stable and reliable, not a fluke.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 then applied threshold tuning, adjusting the decision cutoff from the default 0.5 down to 0.35. This pushed recall up to nearly 84%, catching more real responders, in exchange for a deliberate, business-justified drop in precision.</a:t>
            </a:r>
          </a:p>
        </p:txBody>
      </p:sp>
    </p:spTree>
    <p:extLst>
      <p:ext uri="{BB962C8B-B14F-4D97-AF65-F5344CB8AC3E}">
        <p14:creationId xmlns:p14="http://schemas.microsoft.com/office/powerpoint/2010/main" val="30189095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843862"/>
            <a:ext cx="1171358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7. Deployment (~1-1.5 min — already covered)</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To make my model usable outside a notebook, I deployed it as an interactive web app using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Streamlit</a:t>
            </a:r>
            <a:r>
              <a:rPr kumimoji="0" lang="en-US" altLang="en-US" sz="1800" b="0" i="0" u="none" strike="noStrike" cap="none" normalizeH="0" baseline="0" dirty="0" smtClean="0">
                <a:ln>
                  <a:noFill/>
                </a:ln>
                <a:solidFill>
                  <a:schemeClr val="tx1"/>
                </a:solidFill>
                <a:effectLst/>
                <a:latin typeface="Arial" panose="020B0604020202020204" pitchFamily="34" charset="0"/>
              </a:rPr>
              <a:t>. Here on the Single Customer tab, a user — say, someone on a marketing team — enters details about a specific customer: their income, age, household composition, and how much they've historically spent across categories like wine, fruit, and meat.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Behind the scenes, when I click Predict, the app applies the exact same preprocessing steps my model was trained on — a log transformation to correct for skew in the spending data, and feature scaling — before feeding it into my trained Logistic Regression model.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 model returns a probability, which I compare against my tuned decision threshold of 0.35, rather than the default 0.5. I chose that threshold deliberately during my evaluation phase, because a missed real responder costs the business more than a wasted marketing outreach — so the app leans toward flagging borderline customers rather than dismissing them.</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[click Predict] Watch what happens — the app returns a clear prediction, either 'Likely to Respond' or 'Unlikely to Respond,' along with the exact probability score, giving a marketing team a fast, defensible way to decide who to prioritize.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There's also a Batch Upload tab, which works the same way but at scale — a team could upload their entire customer list and get back a ranked set of predictions, rather than mailing everyone blindly.</a:t>
            </a:r>
          </a:p>
        </p:txBody>
      </p:sp>
    </p:spTree>
    <p:extLst>
      <p:ext uri="{BB962C8B-B14F-4D97-AF65-F5344CB8AC3E}">
        <p14:creationId xmlns:p14="http://schemas.microsoft.com/office/powerpoint/2010/main" val="4110259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0" y="563885"/>
            <a:ext cx="1195664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8. Insights &amp; Recommendations (~45 sec)</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smtClean="0">
                <a:ln>
                  <a:noFill/>
                </a:ln>
                <a:solidFill>
                  <a:schemeClr val="tx1"/>
                </a:solidFill>
                <a:effectLst/>
                <a:latin typeface="Arial" panose="020B0604020202020204" pitchFamily="34" charset="0"/>
              </a:rPr>
              <a:t>Bringing this together: the strongest predictor of campaign response was a customer's history with previous campaigns — past responders are likely future responders. My recommendation is that the business prioritize re-engaging past responders first, since they represent the highest-probability segment, while using this model's output to selectively expand outreach to new, similar-profile customers rather than mass-mailing the full customer base. In practice, this could meaningfully cut wasted marketing spend while improving overall response rates.</a:t>
            </a:r>
          </a:p>
        </p:txBody>
      </p:sp>
    </p:spTree>
    <p:extLst>
      <p:ext uri="{BB962C8B-B14F-4D97-AF65-F5344CB8AC3E}">
        <p14:creationId xmlns:p14="http://schemas.microsoft.com/office/powerpoint/2010/main" val="2801270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1115</Words>
  <Application>Microsoft Office PowerPoint</Application>
  <PresentationFormat>Widescreen</PresentationFormat>
  <Paragraphs>26</Paragraphs>
  <Slides>9</Slides>
  <Notes>0</Notes>
  <HiddenSlides>0</HiddenSlides>
  <MMClips>6</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Final Project Derivables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Derivables</dc:title>
  <dc:creator>Windows User</dc:creator>
  <cp:lastModifiedBy>Windows User</cp:lastModifiedBy>
  <cp:revision>5</cp:revision>
  <dcterms:created xsi:type="dcterms:W3CDTF">2026-07-23T17:44:31Z</dcterms:created>
  <dcterms:modified xsi:type="dcterms:W3CDTF">2026-07-23T18:51:50Z</dcterms:modified>
</cp:coreProperties>
</file>